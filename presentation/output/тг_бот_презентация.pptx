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4e49fc0b2a45fd" /><Relationship Type="http://schemas.openxmlformats.org/officeDocument/2006/relationships/extended-properties" Target="/docProps/app.xml" Id="Rc8f73fa9ecc8466f" /><Relationship Type="http://schemas.openxmlformats.org/officeDocument/2006/relationships/officeDocument" Target="/ppt/presentation.xml" Id="R9f00e14637eb44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9db310daeb48a1"/>
  </p:sldMasterIdLst>
  <p:notesMasterIdLst>
    <p:notesMasterId xmlns:r="http://schemas.openxmlformats.org/officeDocument/2006/relationships" r:id="Re0ef20f6fad6466f"/>
  </p:notesMasterIdLst>
  <p:sldIdLst>
    <p:sldId xmlns:r="http://schemas.openxmlformats.org/officeDocument/2006/relationships" id="256" r:id="Re5f0322dfdb5445b"/>
    <p:sldId xmlns:r="http://schemas.openxmlformats.org/officeDocument/2006/relationships" id="257" r:id="R01b23429efd04243"/>
    <p:sldId xmlns:r="http://schemas.openxmlformats.org/officeDocument/2006/relationships" id="258" r:id="R706b3f0f49344104"/>
    <p:sldId xmlns:r="http://schemas.openxmlformats.org/officeDocument/2006/relationships" id="259" r:id="Rfb9294e54cd2496f"/>
    <p:sldId xmlns:r="http://schemas.openxmlformats.org/officeDocument/2006/relationships" id="260" r:id="R07ccb2206a80413e"/>
    <p:sldId xmlns:r="http://schemas.openxmlformats.org/officeDocument/2006/relationships" id="261" r:id="R951bdbe91330475b"/>
    <p:sldId xmlns:r="http://schemas.openxmlformats.org/officeDocument/2006/relationships" id="262" r:id="R8302381863564b4d"/>
    <p:sldId xmlns:r="http://schemas.openxmlformats.org/officeDocument/2006/relationships" id="263" r:id="Rbf795fd484b8446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1a7e07e25546f5" /><Relationship Type="http://schemas.openxmlformats.org/officeDocument/2006/relationships/slideMaster" Target="/ppt/slideMasters/slideMaster1.xml" Id="R289db310daeb48a1" /><Relationship Type="http://schemas.openxmlformats.org/officeDocument/2006/relationships/notesMaster" Target="/ppt/notesMasters/notesMaster1.xml" Id="Re0ef20f6fad6466f" /><Relationship Type="http://schemas.openxmlformats.org/officeDocument/2006/relationships/presProps" Target="/ppt/presProps.xml" Id="Rddb637ec7c6c45f1" /><Relationship Type="http://schemas.openxmlformats.org/officeDocument/2006/relationships/viewProps" Target="/ppt/viewProps.xml" Id="Ra426738c646e4ac9" /><Relationship Type="http://schemas.openxmlformats.org/officeDocument/2006/relationships/tableStyles" Target="/ppt/tableStyles.xml" Id="Rb6c0b2a4f4734c30" /><Relationship Type="http://schemas.openxmlformats.org/officeDocument/2006/relationships/slide" Target="/ppt/slides/slide1.xml" Id="Re5f0322dfdb5445b" /><Relationship Type="http://schemas.openxmlformats.org/officeDocument/2006/relationships/slide" Target="/ppt/slides/slide2.xml" Id="R01b23429efd04243" /><Relationship Type="http://schemas.openxmlformats.org/officeDocument/2006/relationships/slide" Target="/ppt/slides/slide3.xml" Id="R706b3f0f49344104" /><Relationship Type="http://schemas.openxmlformats.org/officeDocument/2006/relationships/slide" Target="/ppt/slides/slide4.xml" Id="Rfb9294e54cd2496f" /><Relationship Type="http://schemas.openxmlformats.org/officeDocument/2006/relationships/slide" Target="/ppt/slides/slide5.xml" Id="R07ccb2206a80413e" /><Relationship Type="http://schemas.openxmlformats.org/officeDocument/2006/relationships/slide" Target="/ppt/slides/slide6.xml" Id="R951bdbe91330475b" /><Relationship Type="http://schemas.openxmlformats.org/officeDocument/2006/relationships/slide" Target="/ppt/slides/slide7.xml" Id="R8302381863564b4d" /><Relationship Type="http://schemas.openxmlformats.org/officeDocument/2006/relationships/slide" Target="/ppt/slides/slide8.xml" Id="Rbf795fd484b844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b09f74bc7841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b5ea8f8a2045fc" /><Relationship Type="http://schemas.openxmlformats.org/officeDocument/2006/relationships/notesMaster" Target="/ppt/notesMasters/notesMaster1.xml" Id="Rd2302a5561944b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272b1365004b04" /><Relationship Type="http://schemas.openxmlformats.org/officeDocument/2006/relationships/notesMaster" Target="/ppt/notesMasters/notesMaster1.xml" Id="Rc1d8248320da44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80d3d485f04779" /><Relationship Type="http://schemas.openxmlformats.org/officeDocument/2006/relationships/notesMaster" Target="/ppt/notesMasters/notesMaster1.xml" Id="R2a3d3c07b7904c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adff913e9449f8" /><Relationship Type="http://schemas.openxmlformats.org/officeDocument/2006/relationships/notesMaster" Target="/ppt/notesMasters/notesMaster1.xml" Id="R1094e273432344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a05b9a6e024403" /><Relationship Type="http://schemas.openxmlformats.org/officeDocument/2006/relationships/notesMaster" Target="/ppt/notesMasters/notesMaster1.xml" Id="R9a61ecc728a64c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709c1bd08a4488" /><Relationship Type="http://schemas.openxmlformats.org/officeDocument/2006/relationships/notesMaster" Target="/ppt/notesMasters/notesMaster1.xml" Id="Rc8fd7894f4a54c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fd52ce2f264df9" /><Relationship Type="http://schemas.openxmlformats.org/officeDocument/2006/relationships/notesMaster" Target="/ppt/notesMasters/notesMaster1.xml" Id="R3d6a140d131f42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ead44186f74cde" /><Relationship Type="http://schemas.openxmlformats.org/officeDocument/2006/relationships/notesMaster" Target="/ppt/notesMasters/notesMaster1.xml" Id="R62b08be9804948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5859d367e442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3b5efef12847a8" /><Relationship Type="http://schemas.openxmlformats.org/officeDocument/2006/relationships/slideLayout" Target="/ppt/slideLayouts/slideLayout1.xml" Id="Rec5d90fd23a04f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5d90fd23a04f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3cff467db4af7" /><Relationship Type="http://schemas.openxmlformats.org/officeDocument/2006/relationships/notesSlide" Target="/ppt/notesSlides/notesSlide1.xml" Id="Rec8b6a02a95e43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37e0aebed459f" /><Relationship Type="http://schemas.openxmlformats.org/officeDocument/2006/relationships/notesSlide" Target="/ppt/notesSlides/notesSlide2.xml" Id="Rf95ee530214e40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2200aaa6c467e" /><Relationship Type="http://schemas.openxmlformats.org/officeDocument/2006/relationships/notesSlide" Target="/ppt/notesSlides/notesSlide3.xml" Id="R32295b1423bc4a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6ef3a7d7049b9" /><Relationship Type="http://schemas.openxmlformats.org/officeDocument/2006/relationships/notesSlide" Target="/ppt/notesSlides/notesSlide4.xml" Id="R94bebca7c91b49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7b4f1ced74ebf" /><Relationship Type="http://schemas.openxmlformats.org/officeDocument/2006/relationships/notesSlide" Target="/ppt/notesSlides/notesSlide5.xml" Id="Rae7a60b540cb4e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9ef8f665344cc" /><Relationship Type="http://schemas.openxmlformats.org/officeDocument/2006/relationships/notesSlide" Target="/ppt/notesSlides/notesSlide6.xml" Id="Re1ce20e5c9384c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93dbf332e4da0" /><Relationship Type="http://schemas.openxmlformats.org/officeDocument/2006/relationships/notesSlide" Target="/ppt/notesSlides/notesSlide7.xml" Id="R68eee3456e294c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58e33be2b4365" /><Relationship Type="http://schemas.openxmlformats.org/officeDocument/2006/relationships/notesSlide" Target="/ppt/notesSlides/notesSlide8.xml" Id="R8dc0fb6fe4c74e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2208A5C-E415-4985-B17F-8E8DF8E3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311146-BF4F-4A76-86F1-5569331F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12204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324D"/>
                </a:solidFill>
              </a:defRPr>
            </a:pPr>
            <a:r>
              <a:t>Telegram-бот для изучения иностранных языков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CE8DD-73D9-4C75-BF75-7BD5101D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514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F7AE0"/>
                </a:solidFill>
              </a:defRPr>
            </a:pPr>
            <a:r>
              <a:t>Учебный проект. MVP по спринтам 1–5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68F11-AE31-49B0-B01D-D27CF637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6611600" cy="217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0" b="1" i="0">
                <a:solidFill>
                  <a:srgbClr val="E5EEF8"/>
                </a:solidFill>
              </a:defRPr>
            </a:pPr>
            <a:r>
              <a:t>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35E92-64E1-41C6-81B6-FD2719B6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91249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4B6178"/>
                </a:solidFill>
              </a:defRPr>
            </a:pPr>
            <a:r>
              <a:t>Проект демонстрирует рабочий MVP Telegram-бота: обучение словам, тренировки, словарь, прогресс, настройки и напоминания.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BEDC3-EC8C-4817-B172-B773EE46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96050"/>
            <a:ext cx="64198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Язык разработки: Python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Библиотека Telegram API: aiogram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База и деплой: PostgreSQL, SQLite fallback, Aeza VPS, systemd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Интерфейс: команды и inline-кнопки</a:t>
            </a:r>
          </a:p>
        </p:txBody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011006F0-3A6B-4D69-8CB1-62A63C67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1">
                <a:solidFill>
                  <a:srgbClr val="4B6178"/>
                </a:solidFill>
              </a:defRPr>
            </a:pPr>
            <a:r>
              <a:t>tg_bot2026</a:t>
            </a:r>
          </a:p>
        </p:txBody>
      </p:sp>
    </p:spTree>
    <p:extLst>
      <p:ext uri="{BB962C8B-B14F-4D97-AF65-F5344CB8AC3E}">
        <p14:creationId xmlns:p14="http://schemas.microsoft.com/office/powerpoint/2010/main" val="651719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87D5BC3-C298-4FE6-A759-48F9F36E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4772D6-7A3E-464C-A62D-5F8B0E23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58674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7324D"/>
                </a:solidFill>
              </a:defRPr>
            </a:pPr>
            <a:r>
              <a:t>Цель и задачи проекта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A2125B8-4F31-417E-BD65-E8EB21C7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E0"/>
          </a:solidFill>
          <a:ln xmlns:a="http://schemas.openxmlformats.org/drawingml/2006/main" w="0">
            <a:solidFill>
              <a:srgbClr val="1F7AE0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1897201-D5C4-456B-B80F-7A1D8A50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86868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6178"/>
                </a:solidFill>
              </a:defRPr>
            </a:pPr>
            <a:r>
              <a:t>Цель проекта — создать и развернуть Telegram-бота для изучения иностранной лексики с карточками, тренировками, словарем и сохранением прогресса.</a:t>
            </a:r>
          </a:p>
        </p:txBody>
      </p:sp>
      <p:sp>
        <p:nvSpPr>
          <p:cNvPr id="5" name="section-number-01">
            <a:extLst xmlns:a="http://schemas.openxmlformats.org/drawingml/2006/main">
              <a:ext uri="{FF2B5EF4-FFF2-40B4-BE49-F238E27FC236}">
                <a16:creationId xmlns:a16="http://schemas.microsoft.com/office/drawing/2014/main" id="{D63C7E3A-48EE-40B4-8D6C-576CF661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85800"/>
            <a:ext cx="400050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0" b="1" i="0">
                <a:solidFill>
                  <a:srgbClr val="EEF4FB"/>
                </a:solidFill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0F4FC-8A41-4F50-9F92-E2CA5FA0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8839200" cy="619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Выбрать язык программирования и библиотеку для разработки Telegram-бота.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Спроектировать архитектуру приложения и схему базы данных.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Подготовить детальную схему пользовательских диалогов.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Реализовать базу данных, регистрацию пользователя и хранение прогресса.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Добавить карточки, словарь, тренировки, настройки и выбор языка.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Развернуть проект на VPS и обеспечить автоматический перезапуск сервиса.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35253-ACCE-4392-94F3-9D723CA8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42900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F7AE0"/>
                </a:solidFill>
              </a:defRPr>
            </a:pPr>
            <a:r>
              <a:t>Результат спринта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269D8-2951-41D1-A2E4-3AAEEFDA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67150"/>
            <a:ext cx="39814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6178"/>
                </a:solidFill>
              </a:defRPr>
            </a:pPr>
            <a:r>
              <a:t>Концепция проекта, схема БД, карта пользовательских переходов и подготовленный репозиторий.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24DA0-A774-409B-9CFF-A6A3F931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5775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F7AE0"/>
                </a:solidFill>
              </a:defRPr>
            </a:pPr>
            <a:r>
              <a:t>Результат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BC9EB-8090-4CFC-883E-6D0CA9D5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314950"/>
            <a:ext cx="4476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6178"/>
                </a:solidFill>
              </a:defRPr>
            </a:pPr>
            <a:r>
              <a:t>Работающий бот с тремя языками, карточками, словарем, тестами, прогрессом, уровнями, напоминаниями и серверным запуском.</a:t>
            </a:r>
          </a:p>
        </p:txBody>
      </p:sp>
    </p:spTree>
    <p:extLst>
      <p:ext uri="{BB962C8B-B14F-4D97-AF65-F5344CB8AC3E}">
        <p14:creationId xmlns:p14="http://schemas.microsoft.com/office/powerpoint/2010/main" val="4453787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C8DDE6E-C60A-4799-BC69-189D8BD3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C6E5B4-2DBA-4D28-944C-C52B2F64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7353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7324D"/>
                </a:solidFill>
              </a:defRPr>
            </a:pPr>
            <a:r>
              <a:t>Выбранный стек технологий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A9368B6-3E81-4D69-9351-F01178A9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E0"/>
          </a:solidFill>
          <a:ln xmlns:a="http://schemas.openxmlformats.org/drawingml/2006/main" w="0">
            <a:solidFill>
              <a:srgbClr val="1F7AE0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300E82B-ECDC-405D-99F9-B628D8E4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834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6178"/>
                </a:solidFill>
              </a:defRPr>
            </a:pPr>
            <a:r>
              <a:t>Технологический стек подобран так, чтобы обеспечить простую реализацию MVP и возможность дальнейшего расширения проекта.</a:t>
            </a:r>
          </a:p>
        </p:txBody>
      </p:sp>
      <p:sp>
        <p:nvSpPr>
          <p:cNvPr id="5" name="section-number-02">
            <a:extLst xmlns:a="http://schemas.openxmlformats.org/drawingml/2006/main">
              <a:ext uri="{FF2B5EF4-FFF2-40B4-BE49-F238E27FC236}">
                <a16:creationId xmlns:a16="http://schemas.microsoft.com/office/drawing/2014/main" id="{DE088705-6A73-4AC7-B81C-2B7F58D1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85800"/>
            <a:ext cx="4000500" cy="205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0" b="1" i="0">
                <a:solidFill>
                  <a:srgbClr val="EEF4FB"/>
                </a:solidFill>
              </a:defRPr>
            </a:pPr>
            <a: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AB3B4-9A93-49C6-BDFD-AE1E9D6E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8077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F7AE0"/>
                </a:solidFill>
              </a:defRPr>
            </a:pPr>
            <a:r>
              <a:t>Основные технологии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FA7E7-BFE4-45DF-A946-217F47B0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8077200" cy="2686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Python 3.11+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aiogram 3 для работы с Telegram Bot API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SQLAlchemy 2 как ORM-слой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PostgreSQL как основная БД и SQLite для локального запуска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Ubuntu VPS и systemd для серверного запуска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80392-AD33-47F9-B388-FA1009C3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09900"/>
            <a:ext cx="8077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F7AE0"/>
                </a:solidFill>
              </a:defRPr>
            </a:pPr>
            <a:r>
              <a:t>Причины выбора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28A76-86DC-41B3-B9D3-AFDECFC3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62350"/>
            <a:ext cx="8077200" cy="417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Python обеспечивает высокую скорость разработки и хорошую читаемость кода.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aiogram поддерживает команды, callback-кнопки и удобную маршрутизацию.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SQLAlchemy упрощает работу с моделями и последующее масштабирование.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PostgreSQL подходит для большего числа пользователей и серверного деплоя.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systemd автоматически поднимает бота после падения процесса или перезагрузки VPS.</a:t>
            </a:r>
          </a:p>
        </p:txBody>
      </p:sp>
    </p:spTree>
    <p:extLst>
      <p:ext uri="{BB962C8B-B14F-4D97-AF65-F5344CB8AC3E}">
        <p14:creationId xmlns:p14="http://schemas.microsoft.com/office/powerpoint/2010/main" val="7245026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771288D-87B8-4C88-AA04-F021FA29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5DA775-93B4-401E-92AA-00A30E7E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65532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7324D"/>
                </a:solidFill>
              </a:defRPr>
            </a:pPr>
            <a:r>
              <a:t>Архитектура приложения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ABEA9DE-FB22-447C-8D92-501BE42C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E0"/>
          </a:solidFill>
          <a:ln xmlns:a="http://schemas.openxmlformats.org/drawingml/2006/main" w="0">
            <a:solidFill>
              <a:srgbClr val="1F7AE0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F95F379-D9ED-49CE-9100-D2016107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8191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6178"/>
                </a:solidFill>
              </a:defRPr>
            </a:pPr>
            <a:r>
              <a:t>Проект организован по модульному принципу: конфигурация, база данных, обработчики, клавиатуры и сервисная логика разделены по отдельным пакетам.</a:t>
            </a:r>
          </a:p>
        </p:txBody>
      </p:sp>
      <p:sp>
        <p:nvSpPr>
          <p:cNvPr id="5" name="section-number-03">
            <a:extLst xmlns:a="http://schemas.openxmlformats.org/drawingml/2006/main">
              <a:ext uri="{FF2B5EF4-FFF2-40B4-BE49-F238E27FC236}">
                <a16:creationId xmlns:a16="http://schemas.microsoft.com/office/drawing/2014/main" id="{0FD39B53-D151-4024-8039-67C82FBD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85800"/>
            <a:ext cx="400050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0" b="1" i="0">
                <a:solidFill>
                  <a:srgbClr val="EEF4FB"/>
                </a:solidFill>
              </a:defRPr>
            </a:pPr>
            <a: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EF285-2E6B-4D63-8049-0878219A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723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F7AE0"/>
                </a:solidFill>
              </a:defRPr>
            </a:pPr>
            <a:r>
              <a:t>Ключевые модули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35618-EF89-48C1-A69A-115B7CBF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7239000" cy="3581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main.py — запуск приложения и polling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config.py — загрузка BOT_TOKEN и DATABASE_URL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database/ — engine, session и модели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handlers/ — /start и обработка callback-кнопок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keyboards/ — меню, обучение, настройки и тесты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services/ — обучение, пользователи, настройки и напоминания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FDFEE-EAA9-4259-98ED-6AD311EE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48050"/>
            <a:ext cx="885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F7AE0"/>
                </a:solidFill>
              </a:defRPr>
            </a:pPr>
            <a:r>
              <a:t>Логика работы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8DB67-665A-468D-BA08-5A23091D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24300"/>
            <a:ext cx="885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6178"/>
                </a:solidFill>
              </a:defRPr>
            </a:pPr>
            <a:r>
              <a:t>1. Приложение загружает конфигурацию и инициализирует базу данных.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52225-5F21-4811-911B-B7B6740A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81500"/>
            <a:ext cx="8858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6178"/>
                </a:solidFill>
              </a:defRPr>
            </a:pPr>
            <a:r>
              <a:t>2. Пользователь отправляет команду /start, после чего бот получает данные Telegram-профиля.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E2B6A-DA4F-45DC-B3CA-F9159B35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05400"/>
            <a:ext cx="8858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6178"/>
                </a:solidFill>
              </a:defRPr>
            </a:pPr>
            <a:r>
              <a:t>3. Через сервисный слой выполняется поиск пользователя в БД и создание новой записи при необходимости.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C959B-0D29-4431-9074-8D1849FF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810250"/>
            <a:ext cx="8858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6178"/>
                </a:solidFill>
              </a:defRPr>
            </a:pPr>
            <a:r>
              <a:t>4. При первой регистрации пользователь выбирает язык обучения, после чего открывается главное меню.</a:t>
            </a:r>
          </a:p>
        </p:txBody>
      </p:sp>
    </p:spTree>
    <p:extLst>
      <p:ext uri="{BB962C8B-B14F-4D97-AF65-F5344CB8AC3E}">
        <p14:creationId xmlns:p14="http://schemas.microsoft.com/office/powerpoint/2010/main" val="11199060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E051FD8-B055-4371-8E5B-621BF5DC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BF4ACD-CB53-44B6-9498-C68493DA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510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7324D"/>
                </a:solidFill>
              </a:defRPr>
            </a:pPr>
            <a:r>
              <a:t>Схема базы данных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D19EFE2-66C7-4FCF-818A-9C8B8976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E0"/>
          </a:solidFill>
          <a:ln xmlns:a="http://schemas.openxmlformats.org/drawingml/2006/main" w="0">
            <a:solidFill>
              <a:srgbClr val="1F7AE0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87D1E7A-3477-4E69-AEEA-A8491A25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7677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6178"/>
                </a:solidFill>
              </a:defRPr>
            </a:pPr>
            <a:r>
              <a:t>База данных хранит пользователей, учебные темы, карточки, словарь, прогресс, попытки тестов и настройки напоминаний.</a:t>
            </a:r>
          </a:p>
        </p:txBody>
      </p:sp>
      <p:sp>
        <p:nvSpPr>
          <p:cNvPr id="5" name="section-number-04">
            <a:extLst xmlns:a="http://schemas.openxmlformats.org/drawingml/2006/main">
              <a:ext uri="{FF2B5EF4-FFF2-40B4-BE49-F238E27FC236}">
                <a16:creationId xmlns:a16="http://schemas.microsoft.com/office/drawing/2014/main" id="{AD5C9D03-523A-4E22-A348-BE12FCE0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5800"/>
            <a:ext cx="4000500" cy="205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0" b="1" i="0">
                <a:solidFill>
                  <a:srgbClr val="EEF4FB"/>
                </a:solidFill>
              </a:defRPr>
            </a:pPr>
            <a: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BB23E-2840-4B56-8CEC-7977CC02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8058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F7AE0"/>
                </a:solidFill>
              </a:defRPr>
            </a:pPr>
            <a:r>
              <a:t>Основные таблицы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70EE5-8D64-4DA4-B51C-879C477E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8058150" cy="327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users — профиль, текущий язык, уровень и настройки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word_sets — учебные темы, язык и служебные типы тестов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word_cards — карточки слов с переводами и примерами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user_words — личный словарь пользователя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user_word_progress — прогресс по конкретным словам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quiz_attempts — история прохождения тестов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ED32C-CE40-42B1-9068-C99B6C80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09900"/>
            <a:ext cx="8058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F7AE0"/>
                </a:solidFill>
              </a:defRPr>
            </a:pPr>
            <a:r>
              <a:t>Назначение модели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89F36-2DB9-41BB-8C8B-A3A884FB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24250"/>
            <a:ext cx="8058150" cy="327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Сохранение информации о новом пользователе при первом запуске.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Разделение словаря и прогресса по текущему языку пользователя.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Хранение учебных тем, карточек, словаря, слабых слов и попыток тестов.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PostgreSQL используется на сервере, SQLite сохранен как локальный fallback.</a:t>
            </a:r>
          </a:p>
        </p:txBody>
      </p:sp>
    </p:spTree>
    <p:extLst>
      <p:ext uri="{BB962C8B-B14F-4D97-AF65-F5344CB8AC3E}">
        <p14:creationId xmlns:p14="http://schemas.microsoft.com/office/powerpoint/2010/main" val="11223156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152E291-4DD3-4600-AB7D-5D27EBCD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C46065-9F58-4220-9262-3AB75D2E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691515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7324D"/>
                </a:solidFill>
              </a:defRPr>
            </a:pPr>
            <a:r>
              <a:t>Сценарии взаимодействия пользователя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A4E76A8-9806-4104-B04A-E2212CC2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E0"/>
          </a:solidFill>
          <a:ln xmlns:a="http://schemas.openxmlformats.org/drawingml/2006/main" w="0">
            <a:solidFill>
              <a:srgbClr val="1F7AE0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76B84BE-8033-498D-9B8C-C50CD4A1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85344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6178"/>
                </a:solidFill>
              </a:defRPr>
            </a:pPr>
            <a:r>
              <a:t>В рамках проектирования была подготовлена полная схема пользовательских диалогов, описывающая основные переходы между экранами и разделами.</a:t>
            </a:r>
          </a:p>
        </p:txBody>
      </p:sp>
      <p:sp>
        <p:nvSpPr>
          <p:cNvPr id="5" name="section-number-05">
            <a:extLst xmlns:a="http://schemas.openxmlformats.org/drawingml/2006/main">
              <a:ext uri="{FF2B5EF4-FFF2-40B4-BE49-F238E27FC236}">
                <a16:creationId xmlns:a16="http://schemas.microsoft.com/office/drawing/2014/main" id="{80645A7C-4D8F-4B78-858A-4E7E3F68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85800"/>
            <a:ext cx="4000500" cy="3105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0" b="1" i="0">
                <a:solidFill>
                  <a:srgbClr val="EEF4FB"/>
                </a:solidFill>
              </a:defRPr>
            </a:pPr>
            <a: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CC03A-6112-4238-B014-FC8961CB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8458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F7AE0"/>
                </a:solidFill>
              </a:defRPr>
            </a:pPr>
            <a:r>
              <a:t>Базовый маршрут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92EA1-8BAA-47B2-8222-1400CF06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6953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7324D"/>
                </a:solidFill>
              </a:defRPr>
            </a:pPr>
            <a:r>
              <a:t>Открытие бота → /start → регистрация → выбор языка → главное меню → уроки и тренировки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5503F-A7A0-467E-8E4B-C9A4452B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24475"/>
            <a:ext cx="845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8"/>
          </a:solidFill>
          <a:ln xmlns:a="http://schemas.openxmlformats.org/drawingml/2006/main" w="0">
            <a:solidFill>
              <a:srgbClr val="C8D7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98734-6F17-4258-96E7-D225840C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8458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F7AE0"/>
                </a:solidFill>
              </a:defRPr>
            </a:pPr>
            <a:r>
              <a:t>Основные разделы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1DC63-D761-435B-AF6D-B07253ED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62650"/>
            <a:ext cx="8458200" cy="327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Уроки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Тренировка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Тема дня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Мой словарь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Прогресс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Настройки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7B473-0924-49F9-8FC2-350C193E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57650"/>
            <a:ext cx="765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F7AE0"/>
                </a:solidFill>
              </a:defRPr>
            </a:pPr>
            <a:r>
              <a:t>Что отражено в полной схеме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93235-2E30-490F-812B-4379EC78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552950"/>
            <a:ext cx="7658100" cy="386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Просмотр карточек по темам и уровню пользователя.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Обычный тест, повторение ошибок, тест по словарю и режим до первой ошибки.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Добавление, тестирование и удаление слов из личного словаря.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Просмотр статистики, цели дня и слабых слов.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Выбор языка, выбор уровня и настройка напоминаний.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Возврат из каждого раздела в главное меню.</a:t>
            </a:r>
          </a:p>
        </p:txBody>
      </p:sp>
    </p:spTree>
    <p:extLst>
      <p:ext uri="{BB962C8B-B14F-4D97-AF65-F5344CB8AC3E}">
        <p14:creationId xmlns:p14="http://schemas.microsoft.com/office/powerpoint/2010/main" val="10727171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E87AF78-790B-44B3-B483-3489E887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A145C9-B0F9-42A6-9C13-409019DF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7353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7324D"/>
                </a:solidFill>
              </a:defRPr>
            </a:pPr>
            <a:r>
              <a:t>Реализованный функционал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1D2C1CB-A023-435A-95C8-19ED8938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E0"/>
          </a:solidFill>
          <a:ln xmlns:a="http://schemas.openxmlformats.org/drawingml/2006/main" w="0">
            <a:solidFill>
              <a:srgbClr val="1F7AE0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E68396E-79BC-4451-8F0A-34F63E2F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8420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6178"/>
                </a:solidFill>
              </a:defRPr>
            </a:pPr>
            <a:r>
              <a:t>В MVP реализованы ключевые сценарии обучения: карточки, словарь, тесты, прогресс, настройки и напоминания.</a:t>
            </a:r>
          </a:p>
        </p:txBody>
      </p:sp>
      <p:sp>
        <p:nvSpPr>
          <p:cNvPr id="5" name="section-number-06">
            <a:extLst xmlns:a="http://schemas.openxmlformats.org/drawingml/2006/main">
              <a:ext uri="{FF2B5EF4-FFF2-40B4-BE49-F238E27FC236}">
                <a16:creationId xmlns:a16="http://schemas.microsoft.com/office/drawing/2014/main" id="{063CE159-31F1-4259-BD51-61E265FB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85800"/>
            <a:ext cx="4000500" cy="205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0" b="1" i="0">
                <a:solidFill>
                  <a:srgbClr val="EEF4FB"/>
                </a:solidFill>
              </a:defRPr>
            </a:pPr>
            <a: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1AD36-3D40-452D-A0FD-E7239EB6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8077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F7AE0"/>
                </a:solidFill>
              </a:defRPr>
            </a:pPr>
            <a:r>
              <a:t>Реализовано в коде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B0F39-1899-49D4-B80B-B8381DB5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8077200" cy="327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3 языка: английский, испанский и итальянский.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По 45 учебных тем и 396 карточек с примерами на каждый язык.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Регистрация пользователя и хранение профиля в БД.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Личный словарь с ручным добавлением и удалением слов.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Тесты по темам, словарю и слабым словам.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Режим до первой ошибки и вызов выше уровня.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C111E-C468-49E6-BF8B-47AA1977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09900"/>
            <a:ext cx="8077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F7AE0"/>
                </a:solidFill>
              </a:defRPr>
            </a:pPr>
            <a:r>
              <a:t>Подготовлено к развитию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259D0-2E57-4584-BAD3-DB6E6D58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24250"/>
            <a:ext cx="8077200" cy="2686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Прогресс: точность, цель дня, слабые слова и сильная тема.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Настройки языка, уровня и напоминаний.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PostgreSQL на VPS и локальный SQLite fallback.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Обработка текстовых сообщений и устаревших кнопок.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Разделение прогресса и словаря при смене языка.</a:t>
            </a:r>
          </a:p>
        </p:txBody>
      </p:sp>
    </p:spTree>
    <p:extLst>
      <p:ext uri="{BB962C8B-B14F-4D97-AF65-F5344CB8AC3E}">
        <p14:creationId xmlns:p14="http://schemas.microsoft.com/office/powerpoint/2010/main" val="5241691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35FCC21-B1FD-4E33-8E86-BC00E72E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FF175E-A2B4-4084-AEBB-D61A78BD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35433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7324D"/>
                </a:solidFill>
              </a:defRPr>
            </a:pPr>
            <a:r>
              <a:t>Итоги работы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5E81B1E-A87A-495C-8710-6BA04A4F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E0"/>
          </a:solidFill>
          <a:ln xmlns:a="http://schemas.openxmlformats.org/drawingml/2006/main" w="0">
            <a:solidFill>
              <a:srgbClr val="1F7AE0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4C082B5E-0FBF-46E5-893C-2A2ADB47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8248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6178"/>
                </a:solidFill>
              </a:defRPr>
            </a:pPr>
            <a:r>
              <a:t>В результате практики создан и развернут рабочий Telegram-бот, готовый к демонстрации на защите.</a:t>
            </a:r>
          </a:p>
        </p:txBody>
      </p:sp>
      <p:sp>
        <p:nvSpPr>
          <p:cNvPr id="5" name="section-number-07">
            <a:extLst xmlns:a="http://schemas.openxmlformats.org/drawingml/2006/main">
              <a:ext uri="{FF2B5EF4-FFF2-40B4-BE49-F238E27FC236}">
                <a16:creationId xmlns:a16="http://schemas.microsoft.com/office/drawing/2014/main" id="{D55265DD-6C5F-42CA-9693-DE2512BD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85800"/>
            <a:ext cx="4000500" cy="2228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0" b="1" i="0">
                <a:solidFill>
                  <a:srgbClr val="EEF4FB"/>
                </a:solidFill>
              </a:defRPr>
            </a:pPr>
            <a: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53AC4-4660-4B00-B7DC-E2522D16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847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F7AE0"/>
                </a:solidFill>
              </a:defRPr>
            </a:pPr>
            <a:r>
              <a:t>Основные результаты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187C3-1315-4D75-8F0A-5DF55897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8477250" cy="297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Разработан рабочий Telegram-бот на Python и aiogram.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Реализованы карточки, тренировки, словарь, прогресс и выбор языка.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Настроена PostgreSQL-база через SQLAlchemy.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Добавлены пользовательские настройки и напоминания.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Проект развернут на Aeza VPS и запущен через systemd.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F412B-832F-431B-9500-0CAFAC26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7677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F7AE0"/>
                </a:solidFill>
              </a:defRPr>
            </a:pPr>
            <a:r>
              <a:t>Следующий этап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C053B-81B3-45ED-A3EE-5ED4D8B9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38550"/>
            <a:ext cx="76771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Расширение учебного контента и добавление новых языков.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Добавление Alembic для версионирования миграций.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Подключение внешнего словаря или переводчика.</a:t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950" b="0" i="0">
                <a:solidFill>
                  <a:srgbClr val="4B6178"/>
                </a:solidFill>
              </a:defRPr>
            </a:pPr>
            <a:r>
              <a:t>• Создание админ-панели для управления темами и карточками.</a:t>
            </a:r>
          </a:p>
        </p:txBody>
      </p:sp>
      <p:sp>
        <p:nvSpPr>
          <p:cNvPr id="10" name="source">
            <a:extLst xmlns:a="http://schemas.openxmlformats.org/drawingml/2006/main">
              <a:ext uri="{FF2B5EF4-FFF2-40B4-BE49-F238E27FC236}">
                <a16:creationId xmlns:a16="http://schemas.microsoft.com/office/drawing/2014/main" id="{EE365DCA-A6C2-4603-AFDA-4B700AA9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72600"/>
            <a:ext cx="847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1">
                <a:solidFill>
                  <a:srgbClr val="4B6178"/>
                </a:solidFill>
              </a:defRPr>
            </a:pPr>
            <a:r>
              <a:t>Репозиторий: github.com/glebb228/tg_bot2026</a:t>
            </a:r>
          </a:p>
        </p:txBody>
      </p:sp>
    </p:spTree>
    <p:extLst>
      <p:ext uri="{BB962C8B-B14F-4D97-AF65-F5344CB8AC3E}">
        <p14:creationId xmlns:p14="http://schemas.microsoft.com/office/powerpoint/2010/main" val="612864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2026-06-07T22:45:17.2310000Z</dcterms:created>
  <dcterms:modified xsi:type="dcterms:W3CDTF">2026-06-07T22:45:17.2310000Z</dcterms:modified>
</coreProperties>
</file>