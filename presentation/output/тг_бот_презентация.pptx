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0204339d2d94081" /><Relationship Type="http://schemas.openxmlformats.org/officeDocument/2006/relationships/extended-properties" Target="/docProps/app.xml" Id="Rd6b81846770e4970" /><Relationship Type="http://schemas.openxmlformats.org/officeDocument/2006/relationships/officeDocument" Target="/ppt/presentation.xml" Id="Ra12a43b4fe7d45d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bc7d705fe504492"/>
  </p:sldMasterIdLst>
  <p:notesMasterIdLst>
    <p:notesMasterId xmlns:r="http://schemas.openxmlformats.org/officeDocument/2006/relationships" r:id="R1ff919aa3ed74f02"/>
  </p:notesMasterIdLst>
  <p:sldIdLst>
    <p:sldId xmlns:r="http://schemas.openxmlformats.org/officeDocument/2006/relationships" id="256" r:id="R0bfca1dc3d1846a9"/>
    <p:sldId xmlns:r="http://schemas.openxmlformats.org/officeDocument/2006/relationships" id="257" r:id="Rf32f1bb6d656408d"/>
    <p:sldId xmlns:r="http://schemas.openxmlformats.org/officeDocument/2006/relationships" id="258" r:id="Rd4ff8b9a5d2c419f"/>
    <p:sldId xmlns:r="http://schemas.openxmlformats.org/officeDocument/2006/relationships" id="259" r:id="Re0aa0f81096c4bf2"/>
    <p:sldId xmlns:r="http://schemas.openxmlformats.org/officeDocument/2006/relationships" id="260" r:id="R83f97b19b85145fd"/>
    <p:sldId xmlns:r="http://schemas.openxmlformats.org/officeDocument/2006/relationships" id="261" r:id="Raf2ceec9f0304b4d"/>
    <p:sldId xmlns:r="http://schemas.openxmlformats.org/officeDocument/2006/relationships" id="262" r:id="R120913fa66044b17"/>
    <p:sldId xmlns:r="http://schemas.openxmlformats.org/officeDocument/2006/relationships" id="263" r:id="R1c27b31aec6d4041"/>
  </p:sldIdLst>
  <p:sldSz cx="18288000" cy="10287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3f94f8a0291480b" /><Relationship Type="http://schemas.openxmlformats.org/officeDocument/2006/relationships/slideMaster" Target="/ppt/slideMasters/slideMaster1.xml" Id="R5bc7d705fe504492" /><Relationship Type="http://schemas.openxmlformats.org/officeDocument/2006/relationships/notesMaster" Target="/ppt/notesMasters/notesMaster1.xml" Id="R1ff919aa3ed74f02" /><Relationship Type="http://schemas.openxmlformats.org/officeDocument/2006/relationships/presProps" Target="/ppt/presProps.xml" Id="Rd8edf960fd714780" /><Relationship Type="http://schemas.openxmlformats.org/officeDocument/2006/relationships/viewProps" Target="/ppt/viewProps.xml" Id="Rcf69e7887f8f40d0" /><Relationship Type="http://schemas.openxmlformats.org/officeDocument/2006/relationships/tableStyles" Target="/ppt/tableStyles.xml" Id="R7818784c84334c43" /><Relationship Type="http://schemas.openxmlformats.org/officeDocument/2006/relationships/slide" Target="/ppt/slides/slide1.xml" Id="R0bfca1dc3d1846a9" /><Relationship Type="http://schemas.openxmlformats.org/officeDocument/2006/relationships/slide" Target="/ppt/slides/slide2.xml" Id="Rf32f1bb6d656408d" /><Relationship Type="http://schemas.openxmlformats.org/officeDocument/2006/relationships/slide" Target="/ppt/slides/slide3.xml" Id="Rd4ff8b9a5d2c419f" /><Relationship Type="http://schemas.openxmlformats.org/officeDocument/2006/relationships/slide" Target="/ppt/slides/slide4.xml" Id="Re0aa0f81096c4bf2" /><Relationship Type="http://schemas.openxmlformats.org/officeDocument/2006/relationships/slide" Target="/ppt/slides/slide5.xml" Id="R83f97b19b85145fd" /><Relationship Type="http://schemas.openxmlformats.org/officeDocument/2006/relationships/slide" Target="/ppt/slides/slide6.xml" Id="Raf2ceec9f0304b4d" /><Relationship Type="http://schemas.openxmlformats.org/officeDocument/2006/relationships/slide" Target="/ppt/slides/slide7.xml" Id="R120913fa66044b17" /><Relationship Type="http://schemas.openxmlformats.org/officeDocument/2006/relationships/slide" Target="/ppt/slides/slide8.xml" Id="R1c27b31aec6d404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a179d8a47004ba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42f74f3e7884ec7" /><Relationship Type="http://schemas.openxmlformats.org/officeDocument/2006/relationships/notesMaster" Target="/ppt/notesMasters/notesMaster1.xml" Id="R4c0d25e964bf413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39582ae0dfa4da3" /><Relationship Type="http://schemas.openxmlformats.org/officeDocument/2006/relationships/notesMaster" Target="/ppt/notesMasters/notesMaster1.xml" Id="R473edbb83b97474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69ed3d8fa164078" /><Relationship Type="http://schemas.openxmlformats.org/officeDocument/2006/relationships/notesMaster" Target="/ppt/notesMasters/notesMaster1.xml" Id="R9069a58d34a5488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7fa96c379d6400e" /><Relationship Type="http://schemas.openxmlformats.org/officeDocument/2006/relationships/notesMaster" Target="/ppt/notesMasters/notesMaster1.xml" Id="R2f637331ecd94bd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8362d5d19144947" /><Relationship Type="http://schemas.openxmlformats.org/officeDocument/2006/relationships/notesMaster" Target="/ppt/notesMasters/notesMaster1.xml" Id="R70143336230545d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2c56e3dd59d4f12" /><Relationship Type="http://schemas.openxmlformats.org/officeDocument/2006/relationships/notesMaster" Target="/ppt/notesMasters/notesMaster1.xml" Id="Ra42a167df09741f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352c861ed66452b" /><Relationship Type="http://schemas.openxmlformats.org/officeDocument/2006/relationships/notesMaster" Target="/ppt/notesMasters/notesMaster1.xml" Id="R11e16eea2ea5440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12561aa03884333" /><Relationship Type="http://schemas.openxmlformats.org/officeDocument/2006/relationships/notesMaster" Target="/ppt/notesMasters/notesMaster1.xml" Id="Raf182f725f2444d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394af2dd714a5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1c2b356de15452b" /><Relationship Type="http://schemas.openxmlformats.org/officeDocument/2006/relationships/slideLayout" Target="/ppt/slideLayouts/slideLayout1.xml" Id="Rd6c763b24a9243d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6c763b24a9243d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aa8667223643c8" /><Relationship Type="http://schemas.openxmlformats.org/officeDocument/2006/relationships/notesSlide" Target="/ppt/notesSlides/notesSlide1.xml" Id="R061bcacf87af4dc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2209caaa644dda" /><Relationship Type="http://schemas.openxmlformats.org/officeDocument/2006/relationships/notesSlide" Target="/ppt/notesSlides/notesSlide2.xml" Id="Rfa9a661bb0fc49a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95d5301a3c42f1" /><Relationship Type="http://schemas.openxmlformats.org/officeDocument/2006/relationships/notesSlide" Target="/ppt/notesSlides/notesSlide3.xml" Id="R75b7b3db68c54d7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b5f7978f8d4b07" /><Relationship Type="http://schemas.openxmlformats.org/officeDocument/2006/relationships/notesSlide" Target="/ppt/notesSlides/notesSlide4.xml" Id="R7739861119f6426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ce232be7d641d5" /><Relationship Type="http://schemas.openxmlformats.org/officeDocument/2006/relationships/notesSlide" Target="/ppt/notesSlides/notesSlide5.xml" Id="R7b66b5edc95049b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686ef8cd144b0a" /><Relationship Type="http://schemas.openxmlformats.org/officeDocument/2006/relationships/notesSlide" Target="/ppt/notesSlides/notesSlide6.xml" Id="Rf0faded5e2604d2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f613e64d3b404a" /><Relationship Type="http://schemas.openxmlformats.org/officeDocument/2006/relationships/notesSlide" Target="/ppt/notesSlides/notesSlide7.xml" Id="R40eae52a801742a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95d96e081b4ca0" /><Relationship Type="http://schemas.openxmlformats.org/officeDocument/2006/relationships/notesSlide" Target="/ppt/notesSlides/notesSlide8.xml" Id="R43c97690fe3b4324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6135C800-1CFA-49C5-9518-8E3C73AC2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9FD"/>
          </a:solidFill>
        </p:spPr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083A1C0-8C6F-4934-879F-7F6B421D3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1220450" cy="13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350" b="1" i="0">
                <a:solidFill>
                  <a:srgbClr val="17324D"/>
                </a:solidFill>
              </a:defRPr>
            </a:pPr>
            <a:r>
              <a:t>Telegram-бот для изучения иностранных языков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51A7B8-195B-4A18-A875-CFB3CA131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90750"/>
            <a:ext cx="5143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 i="0">
                <a:solidFill>
                  <a:srgbClr val="1F7AE0"/>
                </a:solidFill>
              </a:defRPr>
            </a:pPr>
            <a:r>
              <a:t>Учебный проект. MVP по спринтам 1–5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322DB0-2032-4089-A737-9DFE9C677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62250"/>
            <a:ext cx="16611600" cy="2171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0" b="1" i="0">
                <a:solidFill>
                  <a:srgbClr val="E5EEF8"/>
                </a:solidFill>
              </a:defRPr>
            </a:pPr>
            <a:r>
              <a:t>2026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6AC8CA-6A76-47DE-AA68-BDDC155A7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00650"/>
            <a:ext cx="9124950" cy="1028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 i="0">
                <a:solidFill>
                  <a:srgbClr val="4B6178"/>
                </a:solidFill>
              </a:defRPr>
            </a:pPr>
            <a:r>
              <a:t>Проект демонстрирует рабочий MVP Telegram-бота: обучение словам, тренировки, словарь, прогресс, настройки и напоминания.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A2D1BD-7105-42CE-96CE-7D51434C1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496050"/>
            <a:ext cx="5791200" cy="2381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>• Язык разработки: Python</a:t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/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>• Библиотека Telegram API: aiogram</a:t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/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>• Хранение данных: PostgreSQL / SQLite fallback и SQLAlchemy</a:t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/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>• Интерфейс: команды и inline-кнопки</a:t>
            </a:r>
          </a:p>
        </p:txBody>
      </p:sp>
      <p:sp>
        <p:nvSpPr>
          <p:cNvPr id="7" name="source">
            <a:extLst xmlns:a="http://schemas.openxmlformats.org/drawingml/2006/main">
              <a:ext uri="{FF2B5EF4-FFF2-40B4-BE49-F238E27FC236}">
                <a16:creationId xmlns:a16="http://schemas.microsoft.com/office/drawing/2014/main" id="{70D32CE0-1EBC-4FE5-AEA8-1B70E3001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9144000"/>
            <a:ext cx="166116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 i="1">
                <a:solidFill>
                  <a:srgbClr val="4B6178"/>
                </a:solidFill>
              </a:defRPr>
            </a:pPr>
            <a:r>
              <a:t>tg_bot2026</a:t>
            </a:r>
          </a:p>
        </p:txBody>
      </p:sp>
    </p:spTree>
    <p:extLst>
      <p:ext uri="{BB962C8B-B14F-4D97-AF65-F5344CB8AC3E}">
        <p14:creationId xmlns:p14="http://schemas.microsoft.com/office/powerpoint/2010/main" val="128911100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20FFD341-22B0-4181-8046-24ED1CC64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C66B0EF-4458-4054-A69C-7D053F032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5867400" cy="1238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 i="0">
                <a:solidFill>
                  <a:srgbClr val="17324D"/>
                </a:solidFill>
              </a:defRPr>
            </a:pPr>
            <a:r>
              <a:t>Цель и задачи проекта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6F026CA6-B9DE-4411-9B19-962EC244F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14550"/>
            <a:ext cx="2286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E0"/>
          </a:solidFill>
          <a:ln xmlns:a="http://schemas.openxmlformats.org/drawingml/2006/main" w="0">
            <a:solidFill>
              <a:srgbClr val="1F7AE0"/>
            </a:solidFill>
            <a:prstDash val="solid"/>
          </a:ln>
        </p:spPr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4714F3D8-51FE-4C19-BAFE-535A87D52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43150"/>
            <a:ext cx="87249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0" i="0">
                <a:solidFill>
                  <a:srgbClr val="4B6178"/>
                </a:solidFill>
              </a:defRPr>
            </a:pPr>
            <a:r>
              <a:t>Цель проекта — создать MVP Telegram-бота для изучения английской лексики с учебными карточками, тренировками и сохранением прогресса.</a:t>
            </a:r>
          </a:p>
        </p:txBody>
      </p:sp>
      <p:sp>
        <p:nvSpPr>
          <p:cNvPr id="5" name="section-number-01">
            <a:extLst xmlns:a="http://schemas.openxmlformats.org/drawingml/2006/main">
              <a:ext uri="{FF2B5EF4-FFF2-40B4-BE49-F238E27FC236}">
                <a16:creationId xmlns:a16="http://schemas.microsoft.com/office/drawing/2014/main" id="{2C5E382A-8D8D-4D2D-B3E0-1C2244086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685800"/>
            <a:ext cx="4000500" cy="2228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0" b="1" i="0">
                <a:solidFill>
                  <a:srgbClr val="EEF4FB"/>
                </a:solidFill>
              </a:defRPr>
            </a:pPr>
            <a: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D76736-6E64-4792-9037-0FD0921FB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43250"/>
            <a:ext cx="8839200" cy="6457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>• Выбрать язык программирования и библиотеку для разработки Telegram-бота.</a:t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/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>• Спроектировать архитектуру приложения и схему базы данных.</a:t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/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>• Подготовить детальную схему пользовательских диалогов.</a:t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/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>• Реализовать базу данных, регистрацию пользователя и хранение прогресса.</a:t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/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>• Добавить карточки, словарь, тренировки и настройки.</a:t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/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>• Подготовить проект к демонстрации и дальнейшему деплою.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8ED8E7-1FA5-45B7-B4E2-CEF98B2F3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3143250"/>
            <a:ext cx="7239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 i="0">
                <a:solidFill>
                  <a:srgbClr val="1F7AE0"/>
                </a:solidFill>
              </a:defRPr>
            </a:pPr>
            <a:r>
              <a:t>Результат спринта 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1000AD-CD05-4187-9DEF-1FC6722E6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3600450"/>
            <a:ext cx="398145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0" i="0">
                <a:solidFill>
                  <a:srgbClr val="4B6178"/>
                </a:solidFill>
              </a:defRPr>
            </a:pPr>
            <a:r>
              <a:t>Концепция проекта, схема БД, карта пользовательских переходов и подготовленный репозиторий.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CF9C36-BC68-45EE-B49C-A808E571F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4591050"/>
            <a:ext cx="7239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 i="0">
                <a:solidFill>
                  <a:srgbClr val="1F7AE0"/>
                </a:solidFill>
              </a:defRPr>
            </a:pPr>
            <a:r>
              <a:t>Результат MVP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DBE42A-7CE3-4B9E-902D-7CD16ACC7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5029200"/>
            <a:ext cx="457200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0" i="0">
                <a:solidFill>
                  <a:srgbClr val="4B6178"/>
                </a:solidFill>
              </a:defRPr>
            </a:pPr>
            <a:r>
              <a:t>Работающий бот с карточками, словарем, тестами, прогрессом, уровнями и напоминаниями.</a:t>
            </a:r>
          </a:p>
        </p:txBody>
      </p:sp>
    </p:spTree>
    <p:extLst>
      <p:ext uri="{BB962C8B-B14F-4D97-AF65-F5344CB8AC3E}">
        <p14:creationId xmlns:p14="http://schemas.microsoft.com/office/powerpoint/2010/main" val="82372159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6E7F7511-684B-4650-9029-1DBC02EBD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63E10D7-10EB-4D51-A287-3960616AC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73533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 i="0">
                <a:solidFill>
                  <a:srgbClr val="17324D"/>
                </a:solidFill>
              </a:defRPr>
            </a:pPr>
            <a:r>
              <a:t>Выбранный стек технологий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546943BE-A116-4B48-80C4-B86594C4C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485900"/>
            <a:ext cx="2286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E0"/>
          </a:solidFill>
          <a:ln xmlns:a="http://schemas.openxmlformats.org/drawingml/2006/main" w="0">
            <a:solidFill>
              <a:srgbClr val="1F7AE0"/>
            </a:solidFill>
            <a:prstDash val="solid"/>
          </a:ln>
        </p:spPr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D1EDA64E-56C9-4F0B-92E3-7B8B99638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33550"/>
            <a:ext cx="83439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0" i="0">
                <a:solidFill>
                  <a:srgbClr val="4B6178"/>
                </a:solidFill>
              </a:defRPr>
            </a:pPr>
            <a:r>
              <a:t>Технологический стек подобран так, чтобы обеспечить простую реализацию MVP и возможность дальнейшего расширения проекта.</a:t>
            </a:r>
          </a:p>
        </p:txBody>
      </p:sp>
      <p:sp>
        <p:nvSpPr>
          <p:cNvPr id="5" name="section-number-02">
            <a:extLst xmlns:a="http://schemas.openxmlformats.org/drawingml/2006/main">
              <a:ext uri="{FF2B5EF4-FFF2-40B4-BE49-F238E27FC236}">
                <a16:creationId xmlns:a16="http://schemas.microsoft.com/office/drawing/2014/main" id="{E9B0218A-39E7-4971-86D3-6F809632B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685800"/>
            <a:ext cx="4000500" cy="2057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0" b="1" i="0">
                <a:solidFill>
                  <a:srgbClr val="EEF4FB"/>
                </a:solidFill>
              </a:defRPr>
            </a:pPr>
            <a: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B0022E-79A8-47EB-8D1C-BDD0F8100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09900"/>
            <a:ext cx="80772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1" i="0">
                <a:solidFill>
                  <a:srgbClr val="1F7AE0"/>
                </a:solidFill>
              </a:defRPr>
            </a:pPr>
            <a:r>
              <a:t>Основные технологии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CEBA3C-0D98-4A42-AF22-A1E9BC46C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62350"/>
            <a:ext cx="8077200" cy="2095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>• Python 3.11+</a:t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/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>• aiogram 3 для работы с Telegram Bot API</a:t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/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>• SQLAlchemy 2 как ORM-слой</a:t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/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>• PostgreSQL как основная БД и SQLite для локального запуска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89FCA1-E2C5-4F00-AE3C-D0508ABCD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009900"/>
            <a:ext cx="80772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1" i="0">
                <a:solidFill>
                  <a:srgbClr val="1F7AE0"/>
                </a:solidFill>
              </a:defRPr>
            </a:pPr>
            <a:r>
              <a:t>Причины выбора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5BD057-588C-4221-85EA-BA9A0BD76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562350"/>
            <a:ext cx="8077200" cy="3276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>• Python обеспечивает высокую скорость разработки и хорошую читаемость кода.</a:t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/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>• aiogram поддерживает команды, callback-кнопки и удобную маршрутизацию.</a:t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/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>• SQLAlchemy упрощает работу с моделями и последующее масштабирование.</a:t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/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>• PostgreSQL подходит для большего числа пользователей и серверного деплоя.</a:t>
            </a:r>
          </a:p>
        </p:txBody>
      </p:sp>
    </p:spTree>
    <p:extLst>
      <p:ext uri="{BB962C8B-B14F-4D97-AF65-F5344CB8AC3E}">
        <p14:creationId xmlns:p14="http://schemas.microsoft.com/office/powerpoint/2010/main" val="35766267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2A9E6BB0-D777-4683-9E6C-731D68283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8E6F599-6FEC-4331-9307-D5891FB92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6553200" cy="1238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 i="0">
                <a:solidFill>
                  <a:srgbClr val="17324D"/>
                </a:solidFill>
              </a:defRPr>
            </a:pPr>
            <a:r>
              <a:t>Архитектура приложения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707FD937-1AF4-4330-B908-566EF0184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14550"/>
            <a:ext cx="2286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E0"/>
          </a:solidFill>
          <a:ln xmlns:a="http://schemas.openxmlformats.org/drawingml/2006/main" w="0">
            <a:solidFill>
              <a:srgbClr val="1F7AE0"/>
            </a:solidFill>
            <a:prstDash val="solid"/>
          </a:ln>
        </p:spPr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D74FC892-B5B9-4873-87DE-B11B05940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43150"/>
            <a:ext cx="819150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0" i="0">
                <a:solidFill>
                  <a:srgbClr val="4B6178"/>
                </a:solidFill>
              </a:defRPr>
            </a:pPr>
            <a:r>
              <a:t>Проект организован по модульному принципу: конфигурация, база данных, обработчики, клавиатуры и сервисная логика разделены по отдельным пакетам.</a:t>
            </a:r>
          </a:p>
        </p:txBody>
      </p:sp>
      <p:sp>
        <p:nvSpPr>
          <p:cNvPr id="5" name="section-number-03">
            <a:extLst xmlns:a="http://schemas.openxmlformats.org/drawingml/2006/main">
              <a:ext uri="{FF2B5EF4-FFF2-40B4-BE49-F238E27FC236}">
                <a16:creationId xmlns:a16="http://schemas.microsoft.com/office/drawing/2014/main" id="{C8D8BB7F-A2F0-44DC-A01D-E539D12DC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685800"/>
            <a:ext cx="4000500" cy="2495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0" b="1" i="0">
                <a:solidFill>
                  <a:srgbClr val="EEF4FB"/>
                </a:solidFill>
              </a:defRPr>
            </a:pPr>
            <a: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AC6B19-689B-49BB-BC75-793E66D92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48050"/>
            <a:ext cx="7239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 i="0">
                <a:solidFill>
                  <a:srgbClr val="1F7AE0"/>
                </a:solidFill>
              </a:defRPr>
            </a:pPr>
            <a:r>
              <a:t>Ключевые модули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84CCF1-80C3-46B5-A4A6-5E11474DB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05250"/>
            <a:ext cx="7239000" cy="3276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>• main.py — запуск приложения и polling</a:t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/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>• config.py — загрузка BOT_TOKEN и DATABASE_URL</a:t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/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>• database/ — engine, session и модели</a:t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/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>• handlers/ — /start и обработка callback-кнопок</a:t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/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>• keyboards/ — главное меню</a:t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/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>• services/ — регистрация и поиск пользователя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AD8EE6-9BFF-4624-90CE-016EE1A7F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448050"/>
            <a:ext cx="8858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 i="0">
                <a:solidFill>
                  <a:srgbClr val="1F7AE0"/>
                </a:solidFill>
              </a:defRPr>
            </a:pPr>
            <a:r>
              <a:t>Логика работы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755DE5-AB6B-460E-84B0-796ECA606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924300"/>
            <a:ext cx="8858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0" i="0">
                <a:solidFill>
                  <a:srgbClr val="4B6178"/>
                </a:solidFill>
              </a:defRPr>
            </a:pPr>
            <a:r>
              <a:t>1. Приложение загружает конфигурацию и инициализирует базу данных.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05C181-B262-48CA-B322-0945A1E77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381500"/>
            <a:ext cx="88582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0" i="0">
                <a:solidFill>
                  <a:srgbClr val="4B6178"/>
                </a:solidFill>
              </a:defRPr>
            </a:pPr>
            <a:r>
              <a:t>2. Пользователь отправляет команду /start, после чего бот получает данные Telegram-профиля.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2AE64F-EE8A-4BF2-8ADC-7733D565E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5105400"/>
            <a:ext cx="88582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0" i="0">
                <a:solidFill>
                  <a:srgbClr val="4B6178"/>
                </a:solidFill>
              </a:defRPr>
            </a:pPr>
            <a:r>
              <a:t>3. Через сервисный слой выполняется поиск пользователя в БД и создание новой записи при необходимости.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B74666-1854-47B9-A134-787D7BC76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5810250"/>
            <a:ext cx="88582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0" i="0">
                <a:solidFill>
                  <a:srgbClr val="4B6178"/>
                </a:solidFill>
              </a:defRPr>
            </a:pPr>
            <a:r>
              <a:t>4. После регистрации пользователю отправляется приветствие и отображается меню разделов.</a:t>
            </a:r>
          </a:p>
        </p:txBody>
      </p:sp>
    </p:spTree>
    <p:extLst>
      <p:ext uri="{BB962C8B-B14F-4D97-AF65-F5344CB8AC3E}">
        <p14:creationId xmlns:p14="http://schemas.microsoft.com/office/powerpoint/2010/main" val="1650311051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0DA9D208-C27A-479E-8E46-9D71FAE28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922BD54-4103-4AC0-98E5-0475FB95D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51054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 i="0">
                <a:solidFill>
                  <a:srgbClr val="17324D"/>
                </a:solidFill>
              </a:defRPr>
            </a:pPr>
            <a:r>
              <a:t>Схема базы данных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B1F1A3BA-ED1A-4EAA-8729-39989C7CA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485900"/>
            <a:ext cx="2286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E0"/>
          </a:solidFill>
          <a:ln xmlns:a="http://schemas.openxmlformats.org/drawingml/2006/main" w="0">
            <a:solidFill>
              <a:srgbClr val="1F7AE0"/>
            </a:solidFill>
            <a:prstDash val="solid"/>
          </a:ln>
        </p:spPr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34C6DD02-475F-45C1-9FDC-89B6B2DA9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33550"/>
            <a:ext cx="76771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0" i="0">
                <a:solidFill>
                  <a:srgbClr val="4B6178"/>
                </a:solidFill>
              </a:defRPr>
            </a:pPr>
            <a:r>
              <a:t>База данных хранит пользователей, учебные темы, карточки, словарь, прогресс, попытки тестов и настройки напоминаний.</a:t>
            </a:r>
          </a:p>
        </p:txBody>
      </p:sp>
      <p:sp>
        <p:nvSpPr>
          <p:cNvPr id="5" name="section-number-04">
            <a:extLst xmlns:a="http://schemas.openxmlformats.org/drawingml/2006/main">
              <a:ext uri="{FF2B5EF4-FFF2-40B4-BE49-F238E27FC236}">
                <a16:creationId xmlns:a16="http://schemas.microsoft.com/office/drawing/2014/main" id="{9A613B8B-84E9-4814-BB88-45BCEF096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685800"/>
            <a:ext cx="4000500" cy="2057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0" b="1" i="0">
                <a:solidFill>
                  <a:srgbClr val="EEF4FB"/>
                </a:solidFill>
              </a:defRPr>
            </a:pPr>
            <a:r>
              <a:t>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183C44-82C4-4047-AAAF-AEBE9119F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09900"/>
            <a:ext cx="80581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1" i="0">
                <a:solidFill>
                  <a:srgbClr val="1F7AE0"/>
                </a:solidFill>
              </a:defRPr>
            </a:pPr>
            <a:r>
              <a:t>Основные таблицы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08A3BC-AF65-40F0-8003-6AC592E83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24250"/>
            <a:ext cx="8058150" cy="3276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>• users — профиль пользователя, уровень и настройки</a:t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/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>• word_sets — учебные темы и служебные типы тестов</a:t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/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>• word_cards — карточки слов с переводами и примерами</a:t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/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>• user_words — личный словарь пользователя</a:t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/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>• user_word_progress — прогресс по конкретным словам</a:t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/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>• quiz_attempts — история прохождения тестов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B077DF-145E-4E22-8492-0CCF46F9D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009900"/>
            <a:ext cx="80581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1" i="0">
                <a:solidFill>
                  <a:srgbClr val="1F7AE0"/>
                </a:solidFill>
              </a:defRPr>
            </a:pPr>
            <a:r>
              <a:t>Назначение модели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0901F9-312C-45B9-A784-F43BE7FE4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524250"/>
            <a:ext cx="8058150" cy="297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>• Сохранение информации о новом пользователе при первом запуске.</a:t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/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>• Основа для последующей персонализации сценариев обучения.</a:t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/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>• Хранение учебных тем, карточек, словаря, прогресса и попыток тестов.</a:t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/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>• Поддержка PostgreSQL для дальнейшего деплоя и SQLite для локальной демонстрации.</a:t>
            </a:r>
          </a:p>
        </p:txBody>
      </p:sp>
    </p:spTree>
    <p:extLst>
      <p:ext uri="{BB962C8B-B14F-4D97-AF65-F5344CB8AC3E}">
        <p14:creationId xmlns:p14="http://schemas.microsoft.com/office/powerpoint/2010/main" val="155494255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8BC1F56B-C9B3-44C8-B234-66EB4904D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F827BBC-55CB-4F06-8531-5C99C8F6C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6915150" cy="1866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 i="0">
                <a:solidFill>
                  <a:srgbClr val="17324D"/>
                </a:solidFill>
              </a:defRPr>
            </a:pPr>
            <a:r>
              <a:t>Сценарии взаимодействия пользователя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54B0C038-AB79-441F-BAE5-E5D07C2F9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24150"/>
            <a:ext cx="2286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E0"/>
          </a:solidFill>
          <a:ln xmlns:a="http://schemas.openxmlformats.org/drawingml/2006/main" w="0">
            <a:solidFill>
              <a:srgbClr val="1F7AE0"/>
            </a:solidFill>
            <a:prstDash val="solid"/>
          </a:ln>
        </p:spPr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7CEC3FA1-78DB-4938-B330-5505FB24B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71800"/>
            <a:ext cx="853440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0" i="0">
                <a:solidFill>
                  <a:srgbClr val="4B6178"/>
                </a:solidFill>
              </a:defRPr>
            </a:pPr>
            <a:r>
              <a:t>В рамках проектирования была подготовлена полная схема пользовательских диалогов, описывающая основные переходы между экранами и разделами.</a:t>
            </a:r>
          </a:p>
        </p:txBody>
      </p:sp>
      <p:sp>
        <p:nvSpPr>
          <p:cNvPr id="5" name="section-number-05">
            <a:extLst xmlns:a="http://schemas.openxmlformats.org/drawingml/2006/main">
              <a:ext uri="{FF2B5EF4-FFF2-40B4-BE49-F238E27FC236}">
                <a16:creationId xmlns:a16="http://schemas.microsoft.com/office/drawing/2014/main" id="{E9C149D4-DB4D-4C1A-AA65-C4DE79E42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685800"/>
            <a:ext cx="4000500" cy="3105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0" b="1" i="0">
                <a:solidFill>
                  <a:srgbClr val="EEF4FB"/>
                </a:solidFill>
              </a:defRPr>
            </a:pPr>
            <a:r>
              <a:t>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85D1E9-C82A-4912-B122-58148B45B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57650"/>
            <a:ext cx="84582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 i="0">
                <a:solidFill>
                  <a:srgbClr val="1F7AE0"/>
                </a:solidFill>
              </a:defRPr>
            </a:pPr>
            <a:r>
              <a:t>Базовый маршрут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507D6D-218A-46AC-9B8E-A0F294287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33900"/>
            <a:ext cx="66675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0" i="0">
                <a:solidFill>
                  <a:srgbClr val="17324D"/>
                </a:solidFill>
              </a:defRPr>
            </a:pPr>
            <a:r>
              <a:t>Открытие бота → /start → проверка пользователя → регистрация → приветствие → главное меню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0DF41F-65A0-4A38-8EA2-7A6828A4B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324475"/>
            <a:ext cx="8458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D7E8"/>
          </a:solidFill>
          <a:ln xmlns:a="http://schemas.openxmlformats.org/drawingml/2006/main" w="0">
            <a:solidFill>
              <a:srgbClr val="C8D7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D9DF2C-7A4A-4852-AB4C-B37C38D46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486400"/>
            <a:ext cx="84582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 i="0">
                <a:solidFill>
                  <a:srgbClr val="1F7AE0"/>
                </a:solidFill>
              </a:defRPr>
            </a:pPr>
            <a:r>
              <a:t>Основные разделы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45C4DA-ACA9-4307-AA5F-192545C89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962650"/>
            <a:ext cx="8458200" cy="3276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>• Уроки</a:t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/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>• Тренировка</a:t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/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>• Тема дня</a:t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/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>• Мой словарь</a:t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/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>• Прогресс</a:t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/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>• Настройки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BCF049-945A-451D-BC04-17CBEBA96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4057650"/>
            <a:ext cx="7658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 i="0">
                <a:solidFill>
                  <a:srgbClr val="1F7AE0"/>
                </a:solidFill>
              </a:defRPr>
            </a:pPr>
            <a:r>
              <a:t>Что отражено в полной схеме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49A794-8CBD-495F-BBC4-A4B6839CC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4552950"/>
            <a:ext cx="7658100" cy="3867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>• Просмотр карточек по темам и уровню пользователя.</a:t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/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>• Обычный тест, повторение ошибок, тест по словарю и режим до первой ошибки.</a:t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/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>• Добавление, тестирование и удаление слов из личного словаря.</a:t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/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>• Просмотр статистики, цели дня и слабых слов.</a:t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/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>• Выбор уровня и настройка напоминаний.</a:t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/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>• Возврат из каждого раздела в главное меню.</a:t>
            </a:r>
          </a:p>
        </p:txBody>
      </p:sp>
    </p:spTree>
    <p:extLst>
      <p:ext uri="{BB962C8B-B14F-4D97-AF65-F5344CB8AC3E}">
        <p14:creationId xmlns:p14="http://schemas.microsoft.com/office/powerpoint/2010/main" val="839068441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6C8DCC1F-F275-48A7-A69C-5850CD297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A733524-0745-44C9-8C55-836B69F74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73533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 i="0">
                <a:solidFill>
                  <a:srgbClr val="17324D"/>
                </a:solidFill>
              </a:defRPr>
            </a:pPr>
            <a:r>
              <a:t>Реализованный функционал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E5C41776-915D-4121-BC6C-564D41673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485900"/>
            <a:ext cx="2286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E0"/>
          </a:solidFill>
          <a:ln xmlns:a="http://schemas.openxmlformats.org/drawingml/2006/main" w="0">
            <a:solidFill>
              <a:srgbClr val="1F7AE0"/>
            </a:solidFill>
            <a:prstDash val="solid"/>
          </a:ln>
        </p:spPr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AADD45C7-676A-425B-BD94-A9D938B12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33550"/>
            <a:ext cx="84201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0" i="0">
                <a:solidFill>
                  <a:srgbClr val="4B6178"/>
                </a:solidFill>
              </a:defRPr>
            </a:pPr>
            <a:r>
              <a:t>В MVP реализованы ключевые сценарии обучения: карточки, словарь, тесты, прогресс, настройки и напоминания.</a:t>
            </a:r>
          </a:p>
        </p:txBody>
      </p:sp>
      <p:sp>
        <p:nvSpPr>
          <p:cNvPr id="5" name="section-number-06">
            <a:extLst xmlns:a="http://schemas.openxmlformats.org/drawingml/2006/main">
              <a:ext uri="{FF2B5EF4-FFF2-40B4-BE49-F238E27FC236}">
                <a16:creationId xmlns:a16="http://schemas.microsoft.com/office/drawing/2014/main" id="{97A992A5-2B57-44FD-8F7F-7824C298F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685800"/>
            <a:ext cx="4000500" cy="2057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0" b="1" i="0">
                <a:solidFill>
                  <a:srgbClr val="EEF4FB"/>
                </a:solidFill>
              </a:defRPr>
            </a:pPr>
            <a:r>
              <a:t>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5484F9-1FCC-4111-A80A-5C12F493B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09900"/>
            <a:ext cx="80772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1" i="0">
                <a:solidFill>
                  <a:srgbClr val="1F7AE0"/>
                </a:solidFill>
              </a:defRPr>
            </a:pPr>
            <a:r>
              <a:t>Реализовано в коде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F09576-22B3-4287-9A69-BAD9F113A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24250"/>
            <a:ext cx="8077200" cy="2686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>• 45 учебных тем и 396 карточек с примерами.</a:t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/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>• Регистрация пользователя и хранение профиля в БД.</a:t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/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>• Личный словарь с ручным добавлением и удалением слов.</a:t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/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>• Тесты по темам, словарю и слабым словам.</a:t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/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>• Режим до первой ошибки и вызов выше уровня.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2005B5-4520-4B4B-941C-235C7EE61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009900"/>
            <a:ext cx="80772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1" i="0">
                <a:solidFill>
                  <a:srgbClr val="1F7AE0"/>
                </a:solidFill>
              </a:defRPr>
            </a:pPr>
            <a:r>
              <a:t>Подготовлено к развитию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8C4B4A-CDA2-4A09-AFBE-C387A924C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524250"/>
            <a:ext cx="8077200" cy="2095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>• Прогресс: точность, цель дня, слабые слова и сильная тема.</a:t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/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>• Настройки уровня и напоминаний.</a:t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/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>• Поддержка PostgreSQL и локального SQLite fallback.</a:t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/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>• Обработка текстовых сообщений и устаревших кнопок.</a:t>
            </a:r>
          </a:p>
        </p:txBody>
      </p:sp>
    </p:spTree>
    <p:extLst>
      <p:ext uri="{BB962C8B-B14F-4D97-AF65-F5344CB8AC3E}">
        <p14:creationId xmlns:p14="http://schemas.microsoft.com/office/powerpoint/2010/main" val="1424344691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A4142A26-B9D5-4383-9B9F-3E3EB7458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E"/>
          </a:solidFill>
        </p:spPr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F6BDC9F-42F2-498D-BC08-617FB2D47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3543300" cy="1238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 i="0">
                <a:solidFill>
                  <a:srgbClr val="17324D"/>
                </a:solidFill>
              </a:defRPr>
            </a:pPr>
            <a:r>
              <a:t>Итоги работы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45777162-E3C6-4B75-9817-0564B15D2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14550"/>
            <a:ext cx="2286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E0"/>
          </a:solidFill>
          <a:ln xmlns:a="http://schemas.openxmlformats.org/drawingml/2006/main" w="0">
            <a:solidFill>
              <a:srgbClr val="1F7AE0"/>
            </a:solidFill>
            <a:prstDash val="solid"/>
          </a:ln>
        </p:spPr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C0219A9B-A4FE-4DE6-9279-4D60283C5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43150"/>
            <a:ext cx="8496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0" i="0">
                <a:solidFill>
                  <a:srgbClr val="4B6178"/>
                </a:solidFill>
              </a:defRPr>
            </a:pPr>
            <a:r>
              <a:t>В результате практики была создана рабочая основа Telegram-бота, готовая к демонстрации и дальнейшему развитию.</a:t>
            </a:r>
          </a:p>
        </p:txBody>
      </p:sp>
      <p:sp>
        <p:nvSpPr>
          <p:cNvPr id="5" name="section-number-07">
            <a:extLst xmlns:a="http://schemas.openxmlformats.org/drawingml/2006/main">
              <a:ext uri="{FF2B5EF4-FFF2-40B4-BE49-F238E27FC236}">
                <a16:creationId xmlns:a16="http://schemas.microsoft.com/office/drawing/2014/main" id="{2B628977-1A91-4B57-9500-5BDF51A46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685800"/>
            <a:ext cx="4000500" cy="2228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0" b="1" i="0">
                <a:solidFill>
                  <a:srgbClr val="EEF4FB"/>
                </a:solidFill>
              </a:defRPr>
            </a:pPr>
            <a:r>
              <a:t>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9CB505-47D5-4E8F-B206-8C99B76FD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24200"/>
            <a:ext cx="84772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1" i="0">
                <a:solidFill>
                  <a:srgbClr val="1F7AE0"/>
                </a:solidFill>
              </a:defRPr>
            </a:pPr>
            <a:r>
              <a:t>Основные результаты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78B027-4432-4604-95F7-3F94865CA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38550"/>
            <a:ext cx="8477250" cy="2686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>• Разработан рабочий Telegram-бот на Python и aiogram.</a:t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/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>• Реализованы карточки, тренировки, словарь и прогресс.</a:t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/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>• Настроена база данных через SQLAlchemy.</a:t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/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>• Добавлены пользовательские настройки и напоминания.</a:t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/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>• Подготовлены README, схема БД, архитектура и user flow.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955A12-FBFD-44DB-8018-E48C778E5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3124200"/>
            <a:ext cx="76771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1" i="0">
                <a:solidFill>
                  <a:srgbClr val="1F7AE0"/>
                </a:solidFill>
              </a:defRPr>
            </a:pPr>
            <a:r>
              <a:t>Следующий этап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F8F31E-A4F5-4155-89E3-0A791F34B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3638550"/>
            <a:ext cx="7677150" cy="2095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>• Развертывание бота на сервере для постоянного аптайма.</a:t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/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>• Подключение production PostgreSQL.</a:t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/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>• Добавление Alembic для версионирования миграций.</a:t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/>
            </a:r>
          </a:p>
          <a:p xmlns:a="http://schemas.openxmlformats.org/drawingml/2006/main">
            <a:pPr>
              <a:defRPr sz="1950" b="0" i="0">
                <a:solidFill>
                  <a:srgbClr val="4B6178"/>
                </a:solidFill>
              </a:defRPr>
            </a:pPr>
            <a:r>
              <a:t>• Расширение контента и дальнейшая стабилизация.</a:t>
            </a:r>
          </a:p>
        </p:txBody>
      </p:sp>
      <p:sp>
        <p:nvSpPr>
          <p:cNvPr id="10" name="source">
            <a:extLst xmlns:a="http://schemas.openxmlformats.org/drawingml/2006/main">
              <a:ext uri="{FF2B5EF4-FFF2-40B4-BE49-F238E27FC236}">
                <a16:creationId xmlns:a16="http://schemas.microsoft.com/office/drawing/2014/main" id="{DA1555C5-AF8E-4E0B-B747-06D3CD609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9372600"/>
            <a:ext cx="8477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 i="1">
                <a:solidFill>
                  <a:srgbClr val="4B6178"/>
                </a:solidFill>
              </a:defRPr>
            </a:pPr>
            <a:r>
              <a:t>Репозиторий: github.com/glebb228/tg_bot2026</a:t>
            </a:r>
          </a:p>
        </p:txBody>
      </p:sp>
    </p:spTree>
    <p:extLst>
      <p:ext uri="{BB962C8B-B14F-4D97-AF65-F5344CB8AC3E}">
        <p14:creationId xmlns:p14="http://schemas.microsoft.com/office/powerpoint/2010/main" val="11329273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2026-06-06T13:48:41.4530000Z</dcterms:created>
  <dcterms:modified xsi:type="dcterms:W3CDTF">2026-06-06T13:48:41.4530000Z</dcterms:modified>
</coreProperties>
</file>